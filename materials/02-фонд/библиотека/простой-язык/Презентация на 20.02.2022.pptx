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59" r:id="rId4"/>
    <p:sldId id="260" r:id="rId5"/>
    <p:sldId id="261" r:id="rId6"/>
    <p:sldId id="263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8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8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8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9C08FBC-023F-45E9-808E-82625636B8A7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ru-RU" sz="2000" b="0" strike="noStrike" spc="-1"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A004488-8B8C-403D-8A77-AA6D0FC20C72}" type="slidenum">
              <a:rPr lang="ru-RU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1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ru-RU" sz="2000" b="0" strike="noStrike" spc="-1">
              <a:latin typeface="Arial"/>
            </a:endParaRPr>
          </a:p>
        </p:txBody>
      </p:sp>
      <p:sp>
        <p:nvSpPr>
          <p:cNvPr id="147" name="CustomShape 3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A59D5EA3-6263-43F9-B134-ED8689126C5C}" type="slidenum">
              <a:rPr lang="ru-RU" sz="1200" b="0" strike="noStrike" spc="-1">
                <a:solidFill>
                  <a:srgbClr val="000000"/>
                </a:solidFill>
                <a:latin typeface="Calibri"/>
                <a:ea typeface="Calibri"/>
              </a:rPr>
              <a:t>24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stomShape 1" hidden="1"/>
          <p:cNvSpPr/>
          <p:nvPr/>
        </p:nvSpPr>
        <p:spPr>
          <a:xfrm>
            <a:off x="0" y="6400800"/>
            <a:ext cx="1219140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CustomShape 2" hidden="1"/>
          <p:cNvSpPr/>
          <p:nvPr/>
        </p:nvSpPr>
        <p:spPr>
          <a:xfrm>
            <a:off x="0" y="6334200"/>
            <a:ext cx="12191400" cy="6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Line 3"/>
          <p:cNvSpPr/>
          <p:nvPr/>
        </p:nvSpPr>
        <p:spPr>
          <a:xfrm>
            <a:off x="1193400" y="1737720"/>
            <a:ext cx="9966960" cy="0"/>
          </a:xfrm>
          <a:prstGeom prst="line">
            <a:avLst/>
          </a:prstGeom>
          <a:ln w="6480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3240" y="6400800"/>
            <a:ext cx="12188160" cy="456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0" y="6334200"/>
            <a:ext cx="12188160" cy="63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asy-to-read.eu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bestbuddies.ru/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207800" y="1115280"/>
            <a:ext cx="9679680" cy="1828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18360" bIns="0"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ru-RU" sz="5040" b="0" strike="noStrike" spc="-52">
                <a:solidFill>
                  <a:srgbClr val="000000"/>
                </a:solidFill>
                <a:latin typeface="Arial"/>
                <a:ea typeface="Arial"/>
              </a:rPr>
              <a:t>Inclusion Europe</a:t>
            </a:r>
            <a:br/>
            <a:r>
              <a:rPr lang="ru-RU" sz="3509" b="0" strike="noStrike" spc="-52">
                <a:solidFill>
                  <a:srgbClr val="000000"/>
                </a:solidFill>
                <a:latin typeface="Arial"/>
                <a:ea typeface="Arial"/>
              </a:rPr>
              <a:t>Простыми словами:</a:t>
            </a:r>
            <a:br/>
            <a:r>
              <a:rPr lang="ru-RU" sz="3509" b="0" strike="noStrike" spc="-52">
                <a:solidFill>
                  <a:srgbClr val="000000"/>
                </a:solidFill>
                <a:latin typeface="Arial"/>
                <a:ea typeface="Arial"/>
              </a:rPr>
              <a:t>как сделать любую информацию доступной</a:t>
            </a:r>
            <a:endParaRPr lang="ru-RU" sz="3509" b="0" strike="noStrike" spc="-1">
              <a:latin typeface="Arial"/>
            </a:endParaRPr>
          </a:p>
        </p:txBody>
      </p:sp>
      <p:pic>
        <p:nvPicPr>
          <p:cNvPr id="91" name="Google Shape;109;p13"/>
          <p:cNvPicPr/>
          <p:nvPr/>
        </p:nvPicPr>
        <p:blipFill>
          <a:blip r:embed="rId3"/>
          <a:srcRect l="7095" t="24428" r="67931" b="52437"/>
          <a:stretch/>
        </p:blipFill>
        <p:spPr>
          <a:xfrm>
            <a:off x="9266760" y="4581360"/>
            <a:ext cx="1620720" cy="1599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143;p18"/>
          <p:cNvPicPr/>
          <p:nvPr/>
        </p:nvPicPr>
        <p:blipFill>
          <a:blip r:embed="rId2"/>
          <a:srcRect l="7095" t="24428" r="67931" b="52437"/>
          <a:stretch/>
        </p:blipFill>
        <p:spPr>
          <a:xfrm>
            <a:off x="1060920" y="942120"/>
            <a:ext cx="3822120" cy="3785400"/>
          </a:xfrm>
          <a:prstGeom prst="rect">
            <a:avLst/>
          </a:prstGeom>
          <a:ln>
            <a:noFill/>
          </a:ln>
        </p:spPr>
      </p:pic>
      <p:sp>
        <p:nvSpPr>
          <p:cNvPr id="97" name="CustomShape 1"/>
          <p:cNvSpPr/>
          <p:nvPr/>
        </p:nvSpPr>
        <p:spPr>
          <a:xfrm>
            <a:off x="5704920" y="759240"/>
            <a:ext cx="5607720" cy="5015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«Простыми словами»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- это формат подачи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информации, который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могут читать и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понимать люди с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особенностями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интеллектуального</a:t>
            </a:r>
            <a:endParaRPr lang="ru-RU" sz="4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развития.</a:t>
            </a:r>
            <a:endParaRPr lang="ru-RU" sz="4000" b="0" strike="noStrike" spc="-1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1398600" y="5591160"/>
            <a:ext cx="3146400" cy="3686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Arial"/>
              </a:rPr>
              <a:t>European easy-to-read Logo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1842480" y="1653120"/>
            <a:ext cx="8748000" cy="3753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endParaRPr lang="ru-RU" sz="1800" b="0" strike="noStrike" spc="-1">
              <a:latin typeface="Arial"/>
            </a:endParaRPr>
          </a:p>
          <a:p>
            <a:pPr marL="274320" indent="-273600">
              <a:lnSpc>
                <a:spcPct val="90000"/>
              </a:lnSpc>
              <a:spcBef>
                <a:spcPts val="499"/>
              </a:spcBef>
              <a:buClr>
                <a:srgbClr val="E48312"/>
              </a:buClr>
              <a:buFont typeface="Calibri"/>
              <a:buChar char="●"/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Формат «Простыми словами» делает информацию</a:t>
            </a:r>
            <a:endParaRPr lang="ru-RU" sz="25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доступной.</a:t>
            </a:r>
            <a:endParaRPr lang="ru-RU" sz="2500" b="0" strike="noStrike" spc="-1">
              <a:latin typeface="Arial"/>
            </a:endParaRPr>
          </a:p>
          <a:p>
            <a:pPr marL="274320" indent="-273600">
              <a:lnSpc>
                <a:spcPct val="90000"/>
              </a:lnSpc>
              <a:spcBef>
                <a:spcPts val="499"/>
              </a:spcBef>
              <a:buClr>
                <a:srgbClr val="E48312"/>
              </a:buClr>
              <a:buFont typeface="Calibri"/>
              <a:buChar char="●"/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Формат «Простыми словами» позволяет людям с</a:t>
            </a:r>
            <a:endParaRPr lang="ru-RU" sz="25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инвалидностью принимать обоснованные решения и</a:t>
            </a:r>
            <a:endParaRPr lang="ru-RU" sz="25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участвовать в жизни общества.</a:t>
            </a:r>
            <a:endParaRPr lang="ru-RU" sz="2500" b="0" strike="noStrike" spc="-1">
              <a:latin typeface="Arial"/>
            </a:endParaRPr>
          </a:p>
          <a:p>
            <a:pPr marL="274320" indent="-273600">
              <a:lnSpc>
                <a:spcPct val="90000"/>
              </a:lnSpc>
              <a:spcBef>
                <a:spcPts val="499"/>
              </a:spcBef>
              <a:buClr>
                <a:srgbClr val="E48312"/>
              </a:buClr>
              <a:buFont typeface="Calibri"/>
              <a:buChar char="●"/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Формат «Простыми словами» приносит пользу многим</a:t>
            </a:r>
            <a:endParaRPr lang="ru-RU" sz="25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99"/>
              </a:spcBef>
            </a:pPr>
            <a:r>
              <a:rPr lang="ru-RU" sz="2500" b="0" strike="noStrike" spc="-1">
                <a:solidFill>
                  <a:srgbClr val="404040"/>
                </a:solidFill>
                <a:latin typeface="Arial"/>
                <a:ea typeface="Arial"/>
              </a:rPr>
              <a:t>людям, не только с нарушениями развития и интеллекта.</a:t>
            </a:r>
            <a:endParaRPr lang="ru-RU" sz="2500" b="0" strike="noStrike" spc="-1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4836960" y="600120"/>
            <a:ext cx="2571120" cy="821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4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Зачем?</a:t>
            </a:r>
            <a:endParaRPr lang="ru-RU" sz="4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75;p23"/>
          <p:cNvPicPr/>
          <p:nvPr/>
        </p:nvPicPr>
        <p:blipFill>
          <a:blip r:embed="rId2"/>
          <a:stretch/>
        </p:blipFill>
        <p:spPr>
          <a:xfrm>
            <a:off x="7417080" y="823680"/>
            <a:ext cx="3859560" cy="4685040"/>
          </a:xfrm>
          <a:prstGeom prst="rect">
            <a:avLst/>
          </a:prstGeom>
          <a:ln>
            <a:noFill/>
          </a:ln>
        </p:spPr>
      </p:pic>
      <p:sp>
        <p:nvSpPr>
          <p:cNvPr id="102" name="CustomShape 1"/>
          <p:cNvSpPr/>
          <p:nvPr/>
        </p:nvSpPr>
        <p:spPr>
          <a:xfrm>
            <a:off x="778680" y="2520360"/>
            <a:ext cx="6306480" cy="645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50000"/>
              </a:lnSpc>
            </a:pPr>
            <a:r>
              <a:rPr lang="ru-RU" sz="4800" b="1" u="sng" strike="noStrike" spc="-1">
                <a:solidFill>
                  <a:srgbClr val="2998E3"/>
                </a:solidFill>
                <a:uFillTx/>
                <a:latin typeface="Palatino Linotype"/>
                <a:ea typeface="Palatino Linotype"/>
                <a:hlinkClick r:id="rId3"/>
              </a:rPr>
              <a:t>www.easy-to-read.eu</a:t>
            </a:r>
            <a:r>
              <a:rPr lang="ru-RU" sz="2400" b="0" strike="noStrike" spc="-1">
                <a:solidFill>
                  <a:srgbClr val="000000"/>
                </a:solidFill>
                <a:latin typeface="Palatino Linotype"/>
                <a:ea typeface="Palatino Linotype"/>
              </a:rPr>
              <a:t> 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Рисунок 1"/>
          <p:cNvPicPr/>
          <p:nvPr/>
        </p:nvPicPr>
        <p:blipFill>
          <a:blip r:embed="rId2"/>
          <a:stretch/>
        </p:blipFill>
        <p:spPr>
          <a:xfrm>
            <a:off x="846360" y="1053720"/>
            <a:ext cx="4971960" cy="4971960"/>
          </a:xfrm>
          <a:prstGeom prst="rect">
            <a:avLst/>
          </a:prstGeom>
          <a:ln>
            <a:noFill/>
          </a:ln>
        </p:spPr>
      </p:pic>
      <p:pic>
        <p:nvPicPr>
          <p:cNvPr id="104" name="Рисунок 3"/>
          <p:cNvPicPr/>
          <p:nvPr/>
        </p:nvPicPr>
        <p:blipFill>
          <a:blip r:embed="rId3"/>
          <a:stretch/>
        </p:blipFill>
        <p:spPr>
          <a:xfrm>
            <a:off x="6942960" y="713160"/>
            <a:ext cx="3900240" cy="5590080"/>
          </a:xfrm>
          <a:prstGeom prst="rect">
            <a:avLst/>
          </a:prstGeom>
          <a:ln>
            <a:noFill/>
          </a:ln>
        </p:spPr>
      </p:pic>
      <p:sp>
        <p:nvSpPr>
          <p:cNvPr id="105" name="CustomShape 1"/>
          <p:cNvSpPr/>
          <p:nvPr/>
        </p:nvSpPr>
        <p:spPr>
          <a:xfrm>
            <a:off x="1350000" y="327960"/>
            <a:ext cx="4303080" cy="577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200" b="1" strike="noStrike" spc="-1">
                <a:solidFill>
                  <a:srgbClr val="C00000"/>
                </a:solidFill>
                <a:latin typeface="Calibri"/>
                <a:ea typeface="DejaVu Sans"/>
              </a:rPr>
              <a:t>Музей Орсе, Париж</a:t>
            </a:r>
            <a:endParaRPr lang="ru-RU" sz="3200" b="0" strike="noStrike" spc="-1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5982840" y="357480"/>
            <a:ext cx="6208560" cy="577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200" b="1" strike="noStrike" spc="-1">
                <a:solidFill>
                  <a:srgbClr val="C00000"/>
                </a:solidFill>
                <a:latin typeface="Calibri"/>
                <a:ea typeface="DejaVu Sans"/>
              </a:rPr>
              <a:t>Музей сэра Джона Соуна, Лондон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Table 1"/>
          <p:cNvGraphicFramePr/>
          <p:nvPr/>
        </p:nvGraphicFramePr>
        <p:xfrm>
          <a:off x="515520" y="266760"/>
          <a:ext cx="11164320" cy="5684520"/>
        </p:xfrm>
        <a:graphic>
          <a:graphicData uri="http://schemas.openxmlformats.org/drawingml/2006/table">
            <a:tbl>
              <a:tblPr/>
              <a:tblGrid>
                <a:gridCol w="558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4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Easy To Read (Europe)</a:t>
                      </a:r>
                      <a:endParaRPr lang="ru-RU" sz="4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4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Plain Language</a:t>
                      </a:r>
                      <a:endParaRPr lang="ru-RU" sz="4800" b="0" strike="noStrike" spc="-1"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4800" b="1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(USA)</a:t>
                      </a:r>
                      <a:endParaRPr lang="ru-RU" sz="48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Avoid writing in colour.</a:t>
                      </a:r>
                      <a:endParaRPr lang="ru-RU" sz="3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Use typography (font size, color, bold, etc) to guide the reader’s attention.</a:t>
                      </a:r>
                      <a:endParaRPr lang="ru-RU" sz="3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4D8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Избегайте выделения цветом.</a:t>
                      </a:r>
                      <a:endParaRPr lang="ru-RU" sz="3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3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Используйте типографику (размер шрифта, </a:t>
                      </a:r>
                      <a:r>
                        <a:rPr lang="ru-RU" sz="3500" b="1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цвет</a:t>
                      </a:r>
                      <a:r>
                        <a:rPr lang="ru-RU" sz="32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, жирный шрифт и т.д.), чтобы направлять внимание читателя.</a:t>
                      </a:r>
                      <a:endParaRPr lang="ru-RU" sz="32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9E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/>
          <p:cNvSpPr/>
          <p:nvPr/>
        </p:nvSpPr>
        <p:spPr>
          <a:xfrm>
            <a:off x="2543040" y="348480"/>
            <a:ext cx="6818040" cy="173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5400" b="0" u="sng" strike="noStrike" spc="-1">
                <a:solidFill>
                  <a:srgbClr val="2998E3"/>
                </a:solidFill>
                <a:uFillTx/>
                <a:latin typeface="Calibri"/>
                <a:ea typeface="DejaVu Sans"/>
                <a:hlinkClick r:id="rId2"/>
              </a:rPr>
              <a:t>https</a:t>
            </a:r>
            <a:r>
              <a:rPr lang="ru-RU" sz="5400" b="0" u="sng" strike="noStrike" spc="-1">
                <a:solidFill>
                  <a:srgbClr val="2998E3"/>
                </a:solidFill>
                <a:uFillTx/>
                <a:latin typeface="Calibri"/>
                <a:ea typeface="DejaVu Sans"/>
                <a:hlinkClick r:id="rId2"/>
              </a:rPr>
              <a:t>://</a:t>
            </a:r>
            <a:r>
              <a:rPr lang="ru-RU" sz="5400" b="0" u="sng" strike="noStrike" spc="-1">
                <a:solidFill>
                  <a:srgbClr val="2998E3"/>
                </a:solidFill>
                <a:uFillTx/>
                <a:latin typeface="Calibri"/>
                <a:ea typeface="DejaVu Sans"/>
                <a:hlinkClick r:id="rId2"/>
              </a:rPr>
              <a:t>bestbuddies.ru</a:t>
            </a:r>
            <a:endParaRPr lang="ru-RU" sz="5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5400" b="0" strike="noStrike" spc="-1">
              <a:latin typeface="Arial"/>
            </a:endParaRPr>
          </a:p>
        </p:txBody>
      </p:sp>
      <p:pic>
        <p:nvPicPr>
          <p:cNvPr id="117" name="Рисунок 6"/>
          <p:cNvPicPr/>
          <p:nvPr/>
        </p:nvPicPr>
        <p:blipFill>
          <a:blip r:embed="rId3"/>
          <a:srcRect l="2900"/>
          <a:stretch/>
        </p:blipFill>
        <p:spPr>
          <a:xfrm>
            <a:off x="139320" y="2260800"/>
            <a:ext cx="11936880" cy="2604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Рисунок 2"/>
          <p:cNvPicPr/>
          <p:nvPr/>
        </p:nvPicPr>
        <p:blipFill>
          <a:blip r:embed="rId2"/>
          <a:stretch/>
        </p:blipFill>
        <p:spPr>
          <a:xfrm>
            <a:off x="1967760" y="0"/>
            <a:ext cx="8421480" cy="6243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CustomShape 1"/>
          <p:cNvSpPr/>
          <p:nvPr/>
        </p:nvSpPr>
        <p:spPr>
          <a:xfrm>
            <a:off x="764280" y="501840"/>
            <a:ext cx="10839600" cy="171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91440" indent="-216000">
              <a:lnSpc>
                <a:spcPct val="150000"/>
              </a:lnSpc>
              <a:spcBef>
                <a:spcPts val="499"/>
              </a:spcBef>
              <a:buClr>
                <a:srgbClr val="E48312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  <a:ea typeface="Arial"/>
              </a:rPr>
              <a:t>Убедитесь, что вы чётко объяснили суть и все сложные слова.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499"/>
              </a:spcBef>
            </a:pPr>
            <a:endParaRPr lang="ru-RU" sz="3200" b="0" strike="noStrike" spc="-1">
              <a:latin typeface="Arial"/>
            </a:endParaRPr>
          </a:p>
          <a:p>
            <a:pPr>
              <a:lnSpc>
                <a:spcPct val="150000"/>
              </a:lnSpc>
              <a:spcBef>
                <a:spcPts val="499"/>
              </a:spcBef>
            </a:pPr>
            <a:endParaRPr lang="ru-RU" sz="3200" b="0" strike="noStrike" spc="-1">
              <a:latin typeface="Arial"/>
            </a:endParaRPr>
          </a:p>
          <a:p>
            <a:pPr marL="91440" indent="-216000">
              <a:lnSpc>
                <a:spcPct val="150000"/>
              </a:lnSpc>
              <a:spcBef>
                <a:spcPts val="499"/>
              </a:spcBef>
              <a:buClr>
                <a:srgbClr val="E48312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  <a:ea typeface="Arial"/>
              </a:rPr>
              <a:t>Всегда привлекайте людей с особенностями интеллектуального развития к подготовке информации.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601"/>
              </a:spcBef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835920" y="823320"/>
            <a:ext cx="10257840" cy="482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Arial"/>
              </a:rPr>
              <a:t>Используйте известные слова.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Arial"/>
              </a:rPr>
              <a:t>Не используйте сложных слов. Если без этого не обойтись, чётко их объясните.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Arial"/>
              </a:rPr>
              <a:t>На протяжении всего документа называйте одно и то же явление одними и теми же словами.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Arial"/>
              </a:rPr>
              <a:t>Не используйте сложных форм речи (избегайте метафор).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1898640" y="1027800"/>
            <a:ext cx="8960400" cy="402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rm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Давайте людям только важную информацию.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Не давайте больше информации, чем нужно,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для того, чтобы понять вашу мысль.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Важную информацию помещайте в начале документа.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Человеку должно быть понятно,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о чем эта информация. </a:t>
            </a:r>
            <a:endParaRPr lang="ru-RU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1723320" y="779400"/>
            <a:ext cx="8748000" cy="4325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Arial"/>
              </a:rPr>
              <a:t>Используйте заимствованные слова только в том случае, если они широко известны.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endParaRPr lang="ru-RU" sz="24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479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Arial"/>
              </a:rPr>
              <a:t>Избегайте сокращений.</a:t>
            </a:r>
            <a:endParaRPr lang="ru-RU" sz="24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endParaRPr lang="ru-RU" sz="24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Arial"/>
              </a:rPr>
              <a:t>Не употребляйте проценты.</a:t>
            </a:r>
            <a:endParaRPr lang="ru-RU" sz="24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endParaRPr lang="ru-RU" sz="24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r>
              <a:rPr lang="ru-RU" sz="2400" b="0" strike="noStrike" spc="-1">
                <a:solidFill>
                  <a:srgbClr val="000000"/>
                </a:solidFill>
                <a:latin typeface="Arial"/>
                <a:ea typeface="Arial"/>
              </a:rPr>
              <a:t>Лучше замените их словами «много», «несколько».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CustomShape 1"/>
          <p:cNvSpPr/>
          <p:nvPr/>
        </p:nvSpPr>
        <p:spPr>
          <a:xfrm>
            <a:off x="2133720" y="844920"/>
            <a:ext cx="8150400" cy="460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rm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Предложения должны быть короткими.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Предложение должно помещаться на 1 строке.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В предложении не должно быть больше 15 слов. 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Такое предложение можно написать,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если соблюдать простое правило.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Описывайте в предложении только 1 мысль.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600" b="0" strike="noStrike" spc="-1">
                <a:solidFill>
                  <a:srgbClr val="404040"/>
                </a:solidFill>
                <a:latin typeface="Arial"/>
              </a:rPr>
              <a:t>Не используйте сложных предложений.</a:t>
            </a:r>
            <a:endParaRPr lang="ru-RU" sz="2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1497960" y="913320"/>
            <a:ext cx="9366840" cy="4328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rm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Каждое предложение начинайте с новой строки.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Если ваше предложение длиннее 1 строки,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то часть предложения можно перенести на следующую строку.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Важно переносить части предложения так,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чтобы между частями можно было сделать паузу.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Такие паузы можно услышать,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если читать предложение вслух.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ustomShape 1"/>
          <p:cNvSpPr/>
          <p:nvPr/>
        </p:nvSpPr>
        <p:spPr>
          <a:xfrm>
            <a:off x="2028960" y="1062360"/>
            <a:ext cx="8255160" cy="402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rm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Не делайте ваш текст очень длинным.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Делите текст на абзацы по смыслу.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Не начинайте каждый новый абзац с отступа.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В вашем тексте может быть много перечислений. </a:t>
            </a:r>
            <a:endParaRPr lang="ru-RU" sz="24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400" b="0" strike="noStrike" spc="-1">
                <a:solidFill>
                  <a:srgbClr val="404040"/>
                </a:solidFill>
                <a:latin typeface="Arial"/>
              </a:rPr>
              <a:t>Для перечислений используйте списки. </a:t>
            </a: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1523880" y="824400"/>
            <a:ext cx="9378360" cy="4525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rmAutofit fontScale="83000"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Старайтесь не использовать слов, которые пишутся через дефис. 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Избегайте сокращений и аббревиатур, лучше писать слова целиком.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Старайтесь не использовать в своем тексте специальные символы. 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Специальные символы – это, например, §©∞€≠/%().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Числа следует писать цифрами, а не словами. 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Вместо «восемь», «шесть», напишите 8, 6. 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Вместо чисел V, IV, III, стоит использовать 5, 4, 3.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Даты пишите целиком. 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r>
              <a:rPr lang="ru-RU" sz="2000" b="0" strike="noStrike" spc="-1">
                <a:solidFill>
                  <a:srgbClr val="404040"/>
                </a:solidFill>
                <a:latin typeface="Arial"/>
              </a:rPr>
              <a:t>Например, 20 февраля 2022 года.</a:t>
            </a:r>
            <a:endParaRPr lang="ru-RU" sz="20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2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1"/>
          <p:cNvSpPr/>
          <p:nvPr/>
        </p:nvSpPr>
        <p:spPr>
          <a:xfrm>
            <a:off x="1018800" y="1227960"/>
            <a:ext cx="10336320" cy="2150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>
            <a:noAutofit/>
          </a:bodyPr>
          <a:lstStyle/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3600" b="0" strike="noStrike" spc="-1">
                <a:solidFill>
                  <a:srgbClr val="404040"/>
                </a:solidFill>
                <a:latin typeface="Arial"/>
              </a:rPr>
              <a:t>Используйте шрифт без засечек</a:t>
            </a:r>
            <a:endParaRPr lang="ru-RU" sz="3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3600" b="0" strike="noStrike" spc="-1">
                <a:solidFill>
                  <a:srgbClr val="404040"/>
                </a:solidFill>
                <a:latin typeface="Arial"/>
              </a:rPr>
              <a:t>(идеально – Arial).</a:t>
            </a:r>
            <a:endParaRPr lang="ru-RU" sz="3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3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3600" b="0" strike="noStrike" spc="-1">
                <a:solidFill>
                  <a:srgbClr val="404040"/>
                </a:solidFill>
                <a:latin typeface="Arial"/>
              </a:rPr>
              <a:t>Цвет текста должен резко контрастировать с фоном.</a:t>
            </a:r>
            <a:endParaRPr lang="ru-RU" sz="3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3600" b="0" strike="noStrike" spc="-1">
              <a:latin typeface="Arial"/>
            </a:endParaRPr>
          </a:p>
          <a:p>
            <a:pPr marL="91440" indent="-9072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lang="ru-RU" sz="3600" b="0" strike="noStrike" spc="-1">
                <a:solidFill>
                  <a:srgbClr val="404040"/>
                </a:solidFill>
                <a:latin typeface="Arial"/>
              </a:rPr>
              <a:t>Фон текста не должен мешать чтению.</a:t>
            </a:r>
            <a:endParaRPr lang="ru-RU" sz="3600" b="0" strike="noStrike" spc="-1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</a:pPr>
            <a:endParaRPr lang="ru-RU" sz="3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829080" y="883800"/>
            <a:ext cx="10536480" cy="440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Будьте аккуратны с местоимениями.</a:t>
            </a:r>
            <a:endParaRPr lang="ru-RU" sz="40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endParaRPr lang="ru-RU" sz="40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Будьте уверены, что понятно,</a:t>
            </a:r>
            <a:endParaRPr lang="ru-RU" sz="40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на кого или на что указывает местоимение.</a:t>
            </a:r>
            <a:endParaRPr lang="ru-RU" sz="40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endParaRPr lang="ru-RU" sz="4000" b="0" strike="noStrike" spc="-1">
              <a:latin typeface="Arial"/>
            </a:endParaRPr>
          </a:p>
          <a:p>
            <a:pPr marL="393120">
              <a:lnSpc>
                <a:spcPct val="90000"/>
              </a:lnSpc>
              <a:spcBef>
                <a:spcPts val="479"/>
              </a:spcBef>
            </a:pPr>
            <a:r>
              <a:rPr lang="ru-RU" sz="4000" b="0" strike="noStrike" spc="-1">
                <a:solidFill>
                  <a:srgbClr val="000000"/>
                </a:solidFill>
                <a:latin typeface="Arial"/>
                <a:ea typeface="Arial"/>
              </a:rPr>
              <a:t>Если это не так, лучше используйте полное, правильное название.</a:t>
            </a:r>
            <a:endParaRPr lang="ru-RU" sz="40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ustomShape 1"/>
          <p:cNvSpPr/>
          <p:nvPr/>
        </p:nvSpPr>
        <p:spPr>
          <a:xfrm>
            <a:off x="583200" y="287280"/>
            <a:ext cx="11608200" cy="144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0" anchor="b">
            <a:noAutofit/>
          </a:bodyPr>
          <a:lstStyle/>
          <a:p>
            <a:pPr algn="ctr">
              <a:lnSpc>
                <a:spcPct val="85000"/>
              </a:lnSpc>
            </a:pPr>
            <a:r>
              <a:rPr lang="ru-RU" sz="4800" b="0" strike="noStrike" spc="-52">
                <a:solidFill>
                  <a:srgbClr val="404040"/>
                </a:solidFill>
                <a:latin typeface="Arial"/>
              </a:rPr>
              <a:t>Используйте картинки,</a:t>
            </a:r>
            <a:br/>
            <a:r>
              <a:rPr lang="ru-RU" sz="4800" b="0" strike="noStrike" spc="-52">
                <a:solidFill>
                  <a:srgbClr val="404040"/>
                </a:solidFill>
                <a:latin typeface="Arial"/>
              </a:rPr>
              <a:t>иллюстрирующие смысл текста</a:t>
            </a:r>
            <a:endParaRPr lang="ru-RU" sz="4800" b="0" strike="noStrike" spc="-1">
              <a:latin typeface="Arial"/>
            </a:endParaRPr>
          </a:p>
        </p:txBody>
      </p:sp>
      <p:pic>
        <p:nvPicPr>
          <p:cNvPr id="130" name="Google Shape;242;p34"/>
          <p:cNvPicPr/>
          <p:nvPr/>
        </p:nvPicPr>
        <p:blipFill>
          <a:blip r:embed="rId2"/>
          <a:stretch/>
        </p:blipFill>
        <p:spPr>
          <a:xfrm>
            <a:off x="3248640" y="1870200"/>
            <a:ext cx="6597000" cy="3974400"/>
          </a:xfrm>
          <a:prstGeom prst="rect">
            <a:avLst/>
          </a:prstGeom>
          <a:ln>
            <a:noFill/>
          </a:ln>
        </p:spPr>
      </p:pic>
      <p:pic>
        <p:nvPicPr>
          <p:cNvPr id="131" name="Google Shape;244;p34"/>
          <p:cNvPicPr/>
          <p:nvPr/>
        </p:nvPicPr>
        <p:blipFill>
          <a:blip r:embed="rId3"/>
          <a:stretch/>
        </p:blipFill>
        <p:spPr>
          <a:xfrm>
            <a:off x="8016480" y="2883240"/>
            <a:ext cx="1377000" cy="1377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810000" y="1037160"/>
            <a:ext cx="6852960" cy="3989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3200" b="0" strike="noStrike" spc="-1">
                <a:solidFill>
                  <a:srgbClr val="000000"/>
                </a:solidFill>
                <a:latin typeface="Arial"/>
                <a:ea typeface="DejaVu Sans"/>
              </a:rPr>
              <a:t>Пассажирам МЦК запрещается входить в вагон во время и после объявления информации о закрытии дверей, в том числе при поступлении сигнала о закрытии дверей, а также входить и выходить до полного открытия дверей вагонов.</a:t>
            </a:r>
            <a:endParaRPr lang="ru-RU" sz="3200" b="0" strike="noStrike" spc="-1">
              <a:latin typeface="Arial"/>
            </a:endParaRPr>
          </a:p>
        </p:txBody>
      </p:sp>
      <p:pic>
        <p:nvPicPr>
          <p:cNvPr id="133" name="Picture 2"/>
          <p:cNvPicPr/>
          <p:nvPr/>
        </p:nvPicPr>
        <p:blipFill>
          <a:blip r:embed="rId2"/>
          <a:stretch/>
        </p:blipFill>
        <p:spPr>
          <a:xfrm>
            <a:off x="8195760" y="1874160"/>
            <a:ext cx="2571120" cy="2356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1362240" y="1077480"/>
            <a:ext cx="8208360" cy="392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Когда объявляют,</a:t>
            </a:r>
            <a:br/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что двери закрываются,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входить в вагон нельзя</a:t>
            </a: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Когда лампочка на двери мигает,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входить в вагон нельзя</a:t>
            </a: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  <a:ea typeface="DejaVu Sans"/>
              </a:rPr>
              <a:t>Когда дверь открыта не полностью,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800" b="1" strike="noStrike" spc="-1">
                <a:solidFill>
                  <a:srgbClr val="000000"/>
                </a:solidFill>
                <a:latin typeface="Arial"/>
                <a:ea typeface="DejaVu Sans"/>
              </a:rPr>
              <a:t>входить в вагон нельзя.</a:t>
            </a:r>
            <a:endParaRPr lang="ru-RU" sz="2800" b="0" strike="noStrike" spc="-1">
              <a:latin typeface="Arial"/>
            </a:endParaRPr>
          </a:p>
        </p:txBody>
      </p:sp>
      <p:pic>
        <p:nvPicPr>
          <p:cNvPr id="135" name="Picture 3"/>
          <p:cNvPicPr/>
          <p:nvPr/>
        </p:nvPicPr>
        <p:blipFill>
          <a:blip r:embed="rId2"/>
          <a:stretch/>
        </p:blipFill>
        <p:spPr>
          <a:xfrm>
            <a:off x="8850960" y="2349360"/>
            <a:ext cx="1439280" cy="142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2"/>
          <p:cNvPicPr/>
          <p:nvPr/>
        </p:nvPicPr>
        <p:blipFill>
          <a:blip r:embed="rId2"/>
          <a:stretch/>
        </p:blipFill>
        <p:spPr>
          <a:xfrm>
            <a:off x="1523160" y="739800"/>
            <a:ext cx="6134040" cy="4679640"/>
          </a:xfrm>
          <a:prstGeom prst="rect">
            <a:avLst/>
          </a:prstGeom>
          <a:ln>
            <a:noFill/>
          </a:ln>
        </p:spPr>
      </p:pic>
      <p:pic>
        <p:nvPicPr>
          <p:cNvPr id="137" name="Picture 3"/>
          <p:cNvPicPr/>
          <p:nvPr/>
        </p:nvPicPr>
        <p:blipFill>
          <a:blip r:embed="rId3"/>
          <a:stretch/>
        </p:blipFill>
        <p:spPr>
          <a:xfrm>
            <a:off x="9226440" y="4543560"/>
            <a:ext cx="1439280" cy="142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Рисунок 2"/>
          <p:cNvPicPr/>
          <p:nvPr/>
        </p:nvPicPr>
        <p:blipFill>
          <a:blip r:embed="rId2"/>
          <a:srcRect t="13288"/>
          <a:stretch/>
        </p:blipFill>
        <p:spPr>
          <a:xfrm>
            <a:off x="300240" y="400680"/>
            <a:ext cx="5591880" cy="5423040"/>
          </a:xfrm>
          <a:prstGeom prst="rect">
            <a:avLst/>
          </a:prstGeom>
          <a:ln>
            <a:noFill/>
          </a:ln>
        </p:spPr>
      </p:pic>
      <p:pic>
        <p:nvPicPr>
          <p:cNvPr id="139" name="Рисунок 3"/>
          <p:cNvPicPr/>
          <p:nvPr/>
        </p:nvPicPr>
        <p:blipFill>
          <a:blip r:embed="rId3"/>
          <a:stretch/>
        </p:blipFill>
        <p:spPr>
          <a:xfrm>
            <a:off x="5892840" y="832680"/>
            <a:ext cx="6298560" cy="4469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648000" y="2592000"/>
            <a:ext cx="6135120" cy="69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4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Благодарю за внимание!</a:t>
            </a:r>
            <a:endParaRPr lang="ru-RU" sz="4000" b="0" strike="noStrike" spc="-1">
              <a:latin typeface="Arial"/>
            </a:endParaRPr>
          </a:p>
        </p:txBody>
      </p:sp>
      <p:pic>
        <p:nvPicPr>
          <p:cNvPr id="141" name="Google Shape;143;p18"/>
          <p:cNvPicPr/>
          <p:nvPr/>
        </p:nvPicPr>
        <p:blipFill>
          <a:blip r:embed="rId3"/>
          <a:srcRect l="7095" t="24428" r="67931" b="52437"/>
          <a:stretch/>
        </p:blipFill>
        <p:spPr>
          <a:xfrm>
            <a:off x="6912000" y="1008000"/>
            <a:ext cx="4434120" cy="4391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TM02900769[[fn=Ретро]]</Template>
  <TotalTime>440</TotalTime>
  <Words>649</Words>
  <Application>Microsoft Office PowerPoint</Application>
  <PresentationFormat>Широкоэкранный</PresentationFormat>
  <Paragraphs>115</Paragraphs>
  <Slides>24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Palatino Linotype</vt:lpstr>
      <vt:lpstr>Symbol</vt:lpstr>
      <vt:lpstr>Times New Roman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Inclusion Europe Простыми словами: как сделать любую информацию доступной</dc:title>
  <dc:subject/>
  <dc:creator/>
  <dc:description/>
  <cp:lastModifiedBy>Маргарита Бабицкая</cp:lastModifiedBy>
  <cp:revision>28</cp:revision>
  <dcterms:modified xsi:type="dcterms:W3CDTF">2025-07-01T16:27:55Z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14</vt:i4>
  </property>
  <property fmtid="{D5CDD505-2E9C-101B-9397-08002B2CF9AE}" pid="8" name="PresentationFormat">
    <vt:lpwstr>Широкоэкранный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30</vt:i4>
  </property>
</Properties>
</file>